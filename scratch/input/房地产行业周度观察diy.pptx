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59" r:id="rId5"/>
    <p:sldId id="260" r:id="rId6"/>
    <p:sldId id="261" r:id="rId7"/>
    <p:sldId id="262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bd2e2dd-5608-43fa-95e5-debab3eb2d80}">
          <p14:sldIdLst>
            <p14:sldId id="256"/>
            <p14:sldId id="257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房地产行业周度观察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5465" y="855345"/>
            <a:ext cx="4901565" cy="1119505"/>
          </a:xfrm>
        </p:spPr>
        <p:txBody>
          <a:bodyPr/>
          <a:p>
            <a:r>
              <a:rPr lang="zh-CN" altLang="en-US"/>
              <a:t>上周房地产行业指数表现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上周（</a:t>
            </a:r>
            <a:r>
              <a:rPr lang="en-US" altLang="zh-CN"/>
              <a:t>2025.10.27-2025.10.31</a:t>
            </a:r>
            <a:r>
              <a:rPr lang="zh-CN" altLang="en-US"/>
              <a:t>）房地产（申万）板块下跌</a:t>
            </a:r>
            <a:r>
              <a:rPr lang="en-US" altLang="zh-CN"/>
              <a:t> 0.7%</a:t>
            </a:r>
            <a:r>
              <a:rPr lang="zh-CN" altLang="en-US"/>
              <a:t>，沪深</a:t>
            </a:r>
            <a:r>
              <a:rPr lang="en-US" altLang="zh-CN"/>
              <a:t> 300 </a:t>
            </a:r>
            <a:r>
              <a:rPr lang="zh-CN" altLang="en-US"/>
              <a:t>指数下跌</a:t>
            </a:r>
            <a:r>
              <a:rPr lang="en-US" altLang="zh-CN"/>
              <a:t> 0.43%</a:t>
            </a:r>
            <a:r>
              <a:rPr lang="zh-CN" altLang="en-US"/>
              <a:t>，房地产板块落后沪深</a:t>
            </a:r>
            <a:r>
              <a:rPr lang="en-US" altLang="zh-CN"/>
              <a:t> 300 </a:t>
            </a:r>
            <a:r>
              <a:rPr lang="zh-CN" altLang="en-US"/>
              <a:t>指数</a:t>
            </a:r>
            <a:r>
              <a:rPr lang="en-US" altLang="zh-CN"/>
              <a:t> 0.27 </a:t>
            </a:r>
            <a:r>
              <a:rPr lang="zh-CN" altLang="en-US"/>
              <a:t>个百分点。和其他行业对比，房地产行业涨幅位列申万行业第</a:t>
            </a:r>
            <a:r>
              <a:rPr lang="en-US" altLang="zh-CN"/>
              <a:t> 26 </a:t>
            </a:r>
            <a:r>
              <a:rPr lang="zh-CN" altLang="en-US"/>
              <a:t>位。今年以来，沪深</a:t>
            </a:r>
            <a:r>
              <a:rPr lang="en-US" altLang="zh-CN"/>
              <a:t> 300 </a:t>
            </a:r>
            <a:r>
              <a:rPr lang="zh-CN" altLang="en-US"/>
              <a:t>指数上涨</a:t>
            </a:r>
            <a:r>
              <a:rPr lang="en-US" altLang="zh-CN"/>
              <a:t> 17.94%</a:t>
            </a:r>
            <a:r>
              <a:rPr lang="zh-CN" altLang="en-US"/>
              <a:t>，房地产板块上涨</a:t>
            </a:r>
            <a:r>
              <a:rPr lang="en-US" altLang="zh-CN"/>
              <a:t> 9.11%</a:t>
            </a:r>
            <a:r>
              <a:rPr lang="zh-CN" altLang="en-US"/>
              <a:t>，房地产累计落后沪深</a:t>
            </a:r>
            <a:r>
              <a:rPr lang="en-US" altLang="zh-CN"/>
              <a:t> 300 </a:t>
            </a:r>
            <a:r>
              <a:rPr lang="zh-CN" altLang="en-US"/>
              <a:t>指数</a:t>
            </a:r>
            <a:r>
              <a:rPr lang="en-US" altLang="zh-CN"/>
              <a:t> 8.82 </a:t>
            </a:r>
            <a:r>
              <a:rPr lang="zh-CN" altLang="en-US"/>
              <a:t>个百分点。子板块中，上周房地产开发板块下跌</a:t>
            </a:r>
            <a:r>
              <a:rPr lang="en-US" altLang="zh-CN"/>
              <a:t> 0.72%</a:t>
            </a:r>
            <a:r>
              <a:rPr lang="zh-CN" altLang="en-US"/>
              <a:t>，房地产服务板块下跌</a:t>
            </a:r>
            <a:r>
              <a:rPr lang="en-US" altLang="zh-CN"/>
              <a:t> 0.39%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545465" y="3074670"/>
            <a:ext cx="5302885" cy="139446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/>
              <a:t>房地产行业周度数据跟踪</a:t>
            </a:r>
            <a:endParaRPr lang="zh-CN" altLang="en-US"/>
          </a:p>
        </p:txBody>
      </p:sp>
      <p:sp>
        <p:nvSpPr>
          <p:cNvPr id="7" name="内容占位符 2"/>
          <p:cNvSpPr>
            <a:spLocks noGrp="1"/>
          </p:cNvSpPr>
          <p:nvPr/>
        </p:nvSpPr>
        <p:spPr>
          <a:xfrm>
            <a:off x="647700" y="4217035"/>
            <a:ext cx="10515600" cy="2266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/>
              <a:t>上周（</a:t>
            </a:r>
            <a:r>
              <a:rPr lang="en-US" altLang="zh-CN"/>
              <a:t>2025.10.27-2025.11.2</a:t>
            </a:r>
            <a:r>
              <a:rPr lang="zh-CN" altLang="en-US"/>
              <a:t>）</a:t>
            </a:r>
            <a:r>
              <a:rPr lang="en-US" altLang="zh-CN"/>
              <a:t>30 </a:t>
            </a:r>
            <a:r>
              <a:rPr lang="zh-CN" altLang="en-US"/>
              <a:t>大中城市房地产新房成交面积</a:t>
            </a:r>
            <a:r>
              <a:rPr lang="en-US" altLang="zh-CN"/>
              <a:t>201.93 </a:t>
            </a:r>
            <a:r>
              <a:rPr lang="zh-CN" altLang="en-US"/>
              <a:t>万平方米，同比下跌</a:t>
            </a:r>
            <a:r>
              <a:rPr lang="en-US" altLang="zh-CN"/>
              <a:t> 39.22%</a:t>
            </a:r>
            <a:r>
              <a:rPr lang="zh-CN" altLang="en-US"/>
              <a:t>，环比上涨</a:t>
            </a:r>
            <a:r>
              <a:rPr lang="en-US" altLang="zh-CN"/>
              <a:t> 1%</a:t>
            </a:r>
            <a:r>
              <a:rPr lang="zh-CN" altLang="en-US"/>
              <a:t>。</a:t>
            </a:r>
            <a:r>
              <a:rPr lang="en-US" altLang="zh-CN"/>
              <a:t>30 </a:t>
            </a:r>
            <a:r>
              <a:rPr lang="zh-CN" altLang="en-US"/>
              <a:t>大中城市房地产新房累计成交面积</a:t>
            </a:r>
            <a:r>
              <a:rPr lang="en-US" altLang="zh-CN"/>
              <a:t> 7473.55 </a:t>
            </a:r>
            <a:r>
              <a:rPr lang="zh-CN" altLang="en-US"/>
              <a:t>万平方米，同比下跌</a:t>
            </a:r>
            <a:r>
              <a:rPr lang="en-US" altLang="zh-CN"/>
              <a:t> 6.8%</a:t>
            </a:r>
            <a:r>
              <a:rPr lang="zh-CN" altLang="en-US"/>
              <a:t>。从库存消化周期来看，上周</a:t>
            </a:r>
            <a:r>
              <a:rPr lang="en-US" altLang="zh-CN"/>
              <a:t> 10 </a:t>
            </a:r>
            <a:r>
              <a:rPr lang="zh-CN" altLang="en-US"/>
              <a:t>大城市存销比为</a:t>
            </a:r>
            <a:r>
              <a:rPr lang="en-US" altLang="zh-CN"/>
              <a:t> 82.59</a:t>
            </a:r>
            <a:r>
              <a:rPr lang="zh-CN" altLang="en-US"/>
              <a:t>，其中一线城市为</a:t>
            </a:r>
            <a:r>
              <a:rPr lang="en-US" altLang="zh-CN"/>
              <a:t>57.9</a:t>
            </a:r>
            <a:r>
              <a:rPr lang="zh-CN" altLang="en-US"/>
              <a:t>，二线城市为</a:t>
            </a:r>
            <a:r>
              <a:rPr lang="en-US" altLang="zh-CN"/>
              <a:t> 114.34</a:t>
            </a:r>
            <a:r>
              <a:rPr lang="zh-CN" altLang="en-US"/>
              <a:t>。上周</a:t>
            </a:r>
            <a:r>
              <a:rPr lang="en-US" altLang="zh-CN"/>
              <a:t> 7 </a:t>
            </a:r>
            <a:r>
              <a:rPr lang="zh-CN" altLang="en-US"/>
              <a:t>个城市房地产二手房成交面积</a:t>
            </a:r>
            <a:r>
              <a:rPr lang="en-US" altLang="zh-CN"/>
              <a:t>136.47 </a:t>
            </a:r>
            <a:r>
              <a:rPr lang="zh-CN" altLang="en-US"/>
              <a:t>万平方米，同比下跌</a:t>
            </a:r>
            <a:r>
              <a:rPr lang="en-US" altLang="zh-CN"/>
              <a:t> 29.73%</a:t>
            </a:r>
            <a:r>
              <a:rPr lang="zh-CN" altLang="en-US"/>
              <a:t>，环比下跌</a:t>
            </a:r>
            <a:r>
              <a:rPr lang="en-US" altLang="zh-CN"/>
              <a:t> 10.53%</a:t>
            </a:r>
            <a:r>
              <a:rPr lang="zh-CN" altLang="en-US"/>
              <a:t>。</a:t>
            </a:r>
            <a:r>
              <a:rPr lang="en-US" altLang="zh-CN"/>
              <a:t>7 </a:t>
            </a:r>
            <a:r>
              <a:rPr lang="zh-CN" altLang="en-US"/>
              <a:t>个一二线城市二手房累计成交面积</a:t>
            </a:r>
            <a:r>
              <a:rPr lang="en-US" altLang="zh-CN"/>
              <a:t> 6090.51 </a:t>
            </a:r>
            <a:r>
              <a:rPr lang="zh-CN" altLang="en-US"/>
              <a:t>万平方米，同比上涨</a:t>
            </a:r>
            <a:r>
              <a:rPr lang="en-US" altLang="zh-CN"/>
              <a:t> 9.13%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545465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/>
              <a:t>行情回顾</a:t>
            </a:r>
            <a:endParaRPr lang="zh-CN" altLang="en-US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房地产行业数据周度观察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253490"/>
            <a:ext cx="10515600" cy="4351338"/>
          </a:xfrm>
        </p:spPr>
        <p:txBody>
          <a:bodyPr/>
          <a:p>
            <a:pPr marL="0" indent="0">
              <a:buNone/>
            </a:pPr>
            <a:r>
              <a:rPr lang="zh-CN" altLang="en-US"/>
              <a:t>上周（</a:t>
            </a:r>
            <a:r>
              <a:rPr lang="en-US" altLang="zh-CN"/>
              <a:t>2025.10.27-2025.11.2</a:t>
            </a:r>
            <a:r>
              <a:rPr lang="zh-CN" altLang="en-US"/>
              <a:t>）</a:t>
            </a:r>
            <a:r>
              <a:rPr lang="en-US" altLang="zh-CN"/>
              <a:t>30 </a:t>
            </a:r>
            <a:r>
              <a:rPr lang="zh-CN" altLang="en-US"/>
              <a:t>大中城市房地产新房成交面积</a:t>
            </a:r>
            <a:r>
              <a:rPr lang="en-US" altLang="zh-CN"/>
              <a:t> 201.93 </a:t>
            </a:r>
            <a:r>
              <a:rPr lang="zh-CN" altLang="en-US"/>
              <a:t>万平方米，同比下跌</a:t>
            </a:r>
            <a:r>
              <a:rPr lang="en-US" altLang="zh-CN"/>
              <a:t> 39.22%</a:t>
            </a:r>
            <a:r>
              <a:rPr lang="zh-CN" altLang="en-US"/>
              <a:t>，环比上涨</a:t>
            </a:r>
            <a:r>
              <a:rPr lang="en-US" altLang="zh-CN"/>
              <a:t> 1%</a:t>
            </a:r>
            <a:r>
              <a:rPr lang="zh-CN" altLang="en-US"/>
              <a:t>。其中一线城市成交面积</a:t>
            </a:r>
            <a:r>
              <a:rPr lang="en-US" altLang="zh-CN"/>
              <a:t> 48.06 </a:t>
            </a:r>
            <a:r>
              <a:rPr lang="zh-CN" altLang="en-US"/>
              <a:t>万平方米，同比下跌</a:t>
            </a:r>
            <a:r>
              <a:rPr lang="en-US" altLang="zh-CN"/>
              <a:t> 55.04%</a:t>
            </a:r>
            <a:r>
              <a:rPr lang="zh-CN" altLang="en-US"/>
              <a:t>，二线城市成交面积</a:t>
            </a:r>
            <a:r>
              <a:rPr lang="en-US" altLang="zh-CN"/>
              <a:t> 113 </a:t>
            </a:r>
            <a:r>
              <a:rPr lang="zh-CN" altLang="en-US"/>
              <a:t>万平方米，同比下跌</a:t>
            </a:r>
            <a:r>
              <a:rPr lang="en-US" altLang="zh-CN"/>
              <a:t> 33.46%</a:t>
            </a:r>
            <a:r>
              <a:rPr lang="zh-CN" altLang="en-US"/>
              <a:t>，三线城市成交面积</a:t>
            </a:r>
            <a:r>
              <a:rPr lang="en-US" altLang="zh-CN"/>
              <a:t> 40.87 </a:t>
            </a:r>
            <a:r>
              <a:rPr lang="zh-CN" altLang="en-US"/>
              <a:t>万平方米，同比下跌</a:t>
            </a:r>
            <a:r>
              <a:rPr lang="en-US" altLang="zh-CN"/>
              <a:t> 26.36%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45" y="2938780"/>
            <a:ext cx="9864725" cy="277431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519430"/>
            <a:ext cx="10515600" cy="4351338"/>
          </a:xfrm>
        </p:spPr>
        <p:txBody>
          <a:bodyPr/>
          <a:p>
            <a:pPr marL="0" indent="0">
              <a:buNone/>
            </a:pPr>
            <a:r>
              <a:rPr lang="en-US" altLang="zh-CN">
                <a:latin typeface="+mj-ea"/>
                <a:ea typeface="+mj-ea"/>
                <a:cs typeface="+mj-ea"/>
              </a:rPr>
              <a:t>30 </a:t>
            </a:r>
            <a:r>
              <a:rPr lang="zh-CN" altLang="en-US">
                <a:latin typeface="+mj-ea"/>
                <a:ea typeface="+mj-ea"/>
                <a:cs typeface="+mj-ea"/>
              </a:rPr>
              <a:t>大中城市房地产新房累计成交面积</a:t>
            </a:r>
            <a:r>
              <a:rPr lang="en-US" altLang="zh-CN">
                <a:latin typeface="+mj-ea"/>
                <a:ea typeface="+mj-ea"/>
                <a:cs typeface="+mj-ea"/>
              </a:rPr>
              <a:t> 7473.55 </a:t>
            </a:r>
            <a:r>
              <a:rPr lang="zh-CN" altLang="en-US">
                <a:latin typeface="+mj-ea"/>
                <a:ea typeface="+mj-ea"/>
                <a:cs typeface="+mj-ea"/>
              </a:rPr>
              <a:t>万平方米，同比下跌</a:t>
            </a:r>
            <a:r>
              <a:rPr lang="en-US" altLang="zh-CN">
                <a:latin typeface="+mj-ea"/>
                <a:ea typeface="+mj-ea"/>
                <a:cs typeface="+mj-ea"/>
              </a:rPr>
              <a:t> 6.8%</a:t>
            </a:r>
            <a:r>
              <a:rPr lang="zh-CN" altLang="en-US">
                <a:latin typeface="+mj-ea"/>
                <a:ea typeface="+mj-ea"/>
                <a:cs typeface="+mj-ea"/>
              </a:rPr>
              <a:t>。</a:t>
            </a:r>
            <a:endParaRPr lang="zh-CN" altLang="en-US">
              <a:latin typeface="+mj-ea"/>
              <a:ea typeface="+mj-ea"/>
              <a:cs typeface="+mj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800" y="1564005"/>
            <a:ext cx="9423400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三、行业与公司动态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zh-CN"/>
              <a:t>1</a:t>
            </a:r>
            <a:r>
              <a:rPr lang="zh-CN" altLang="en-US"/>
              <a:t>、十五五规划建议指出推动房地产高质量发展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十五五规划建议提出，推动房地产高质量发展。加快构建房地产发展新模式，完善商品房开发、融资、销售等基础制度。优化保障性住房供给，满足城镇工薪群体和各类困难家庭基本住房需求。因城施策增加改善性住房供给。建设安全舒适绿色智慧的</a:t>
            </a:r>
            <a:r>
              <a:rPr lang="en-US" altLang="zh-CN"/>
              <a:t>“</a:t>
            </a:r>
            <a:r>
              <a:rPr lang="zh-CN" altLang="en-US"/>
              <a:t>好房子</a:t>
            </a:r>
            <a:r>
              <a:rPr lang="en-US" altLang="zh-CN"/>
              <a:t>”</a:t>
            </a:r>
            <a:r>
              <a:rPr lang="zh-CN" altLang="en-US"/>
              <a:t>，实施房屋品质提升工程和物业服务质量提升行动。建立房屋全生命周期安全管理制度。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10 </a:t>
            </a:r>
            <a:r>
              <a:rPr lang="zh-CN" altLang="en-US"/>
              <a:t>月百城新房价格同环比均上涨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中指研究院发布的报告显示，</a:t>
            </a:r>
            <a:r>
              <a:rPr lang="en-US" altLang="zh-CN"/>
              <a:t>10 </a:t>
            </a:r>
            <a:r>
              <a:rPr lang="zh-CN" altLang="en-US"/>
              <a:t>月，全国</a:t>
            </a:r>
            <a:r>
              <a:rPr lang="en-US" altLang="zh-CN"/>
              <a:t> 100 </a:t>
            </a:r>
            <a:r>
              <a:rPr lang="zh-CN" altLang="en-US"/>
              <a:t>个城市新建住宅平均价格为</a:t>
            </a:r>
            <a:r>
              <a:rPr lang="en-US" altLang="zh-CN"/>
              <a:t>16973 </a:t>
            </a:r>
            <a:r>
              <a:rPr lang="zh-CN" altLang="en-US"/>
              <a:t>元</a:t>
            </a:r>
            <a:r>
              <a:rPr lang="en-US" altLang="zh-CN"/>
              <a:t>/</a:t>
            </a:r>
            <a:r>
              <a:rPr lang="zh-CN" altLang="en-US"/>
              <a:t>平方米，环比上涨</a:t>
            </a:r>
            <a:r>
              <a:rPr lang="en-US" altLang="zh-CN"/>
              <a:t> 0.28%</a:t>
            </a:r>
            <a:r>
              <a:rPr lang="zh-CN" altLang="en-US"/>
              <a:t>，同比上涨</a:t>
            </a:r>
            <a:r>
              <a:rPr lang="en-US" altLang="zh-CN"/>
              <a:t> 2.67%</a:t>
            </a:r>
            <a:r>
              <a:rPr lang="zh-CN" altLang="en-US"/>
              <a:t>。一线城市新建住宅价格环比上涨</a:t>
            </a:r>
            <a:r>
              <a:rPr lang="en-US" altLang="zh-CN"/>
              <a:t> 0.52%</a:t>
            </a:r>
            <a:r>
              <a:rPr lang="zh-CN" altLang="en-US"/>
              <a:t>，同比上涨</a:t>
            </a:r>
            <a:r>
              <a:rPr lang="en-US" altLang="zh-CN"/>
              <a:t> 6.60%</a:t>
            </a:r>
            <a:r>
              <a:rPr lang="zh-CN" altLang="en-US"/>
              <a:t>；二线城市环比上涨</a:t>
            </a:r>
            <a:r>
              <a:rPr lang="en-US" altLang="zh-CN"/>
              <a:t> 0.31%</a:t>
            </a:r>
            <a:r>
              <a:rPr lang="zh-CN" altLang="en-US"/>
              <a:t>，同比上涨</a:t>
            </a:r>
            <a:r>
              <a:rPr lang="en-US" altLang="zh-CN"/>
              <a:t> 1.86%</a:t>
            </a:r>
            <a:r>
              <a:rPr lang="zh-CN" altLang="en-US"/>
              <a:t>；三四线代表城市环比下跌</a:t>
            </a:r>
            <a:r>
              <a:rPr lang="en-US" altLang="zh-CN"/>
              <a:t> 0.14%</a:t>
            </a:r>
            <a:r>
              <a:rPr lang="zh-CN" altLang="en-US"/>
              <a:t>，同比下跌</a:t>
            </a:r>
            <a:r>
              <a:rPr lang="en-US" altLang="zh-CN"/>
              <a:t> 1.42%</a:t>
            </a:r>
            <a:r>
              <a:rPr lang="zh-CN" altLang="en-US"/>
              <a:t>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二手房方面，</a:t>
            </a:r>
            <a:r>
              <a:rPr lang="en-US" altLang="zh-CN"/>
              <a:t>10 </a:t>
            </a:r>
            <a:r>
              <a:rPr lang="zh-CN" altLang="en-US"/>
              <a:t>月，全国</a:t>
            </a:r>
            <a:r>
              <a:rPr lang="en-US" altLang="zh-CN"/>
              <a:t> 100 </a:t>
            </a:r>
            <a:r>
              <a:rPr lang="zh-CN" altLang="en-US"/>
              <a:t>个城市二手住宅平均价格为</a:t>
            </a:r>
            <a:r>
              <a:rPr lang="en-US" altLang="zh-CN"/>
              <a:t> 13268 </a:t>
            </a:r>
            <a:r>
              <a:rPr lang="zh-CN" altLang="en-US"/>
              <a:t>元</a:t>
            </a:r>
            <a:r>
              <a:rPr lang="en-US" altLang="zh-CN"/>
              <a:t>/</a:t>
            </a:r>
            <a:r>
              <a:rPr lang="zh-CN" altLang="en-US"/>
              <a:t>平方米，环比下跌</a:t>
            </a:r>
            <a:r>
              <a:rPr lang="en-US" altLang="zh-CN"/>
              <a:t> 0.84%</a:t>
            </a:r>
            <a:r>
              <a:rPr lang="zh-CN" altLang="en-US"/>
              <a:t>，同比下跌</a:t>
            </a:r>
            <a:r>
              <a:rPr lang="en-US" altLang="zh-CN"/>
              <a:t> 7.60%</a:t>
            </a:r>
            <a:r>
              <a:rPr lang="zh-CN" altLang="en-US"/>
              <a:t>。一线城市二手住宅价格环比下跌</a:t>
            </a:r>
            <a:r>
              <a:rPr lang="en-US" altLang="zh-CN"/>
              <a:t> 0.81%</a:t>
            </a:r>
            <a:r>
              <a:rPr lang="zh-CN" altLang="en-US"/>
              <a:t>，同比下跌</a:t>
            </a:r>
            <a:r>
              <a:rPr lang="en-US" altLang="zh-CN"/>
              <a:t> 4.59%</a:t>
            </a:r>
            <a:r>
              <a:rPr lang="zh-CN" altLang="en-US"/>
              <a:t>；二线城市环比下跌</a:t>
            </a:r>
            <a:r>
              <a:rPr lang="en-US" altLang="zh-CN"/>
              <a:t> 0.91%</a:t>
            </a:r>
            <a:r>
              <a:rPr lang="zh-CN" altLang="en-US"/>
              <a:t>，同比下跌</a:t>
            </a:r>
            <a:r>
              <a:rPr lang="en-US" altLang="zh-CN"/>
              <a:t> 8.51%</a:t>
            </a:r>
            <a:r>
              <a:rPr lang="zh-CN" altLang="en-US"/>
              <a:t>；三四线代表城市环比下跌</a:t>
            </a:r>
            <a:r>
              <a:rPr lang="en-US" altLang="zh-CN"/>
              <a:t> 0.80%</a:t>
            </a:r>
            <a:r>
              <a:rPr lang="zh-CN" altLang="en-US"/>
              <a:t>，同比下跌</a:t>
            </a:r>
            <a:r>
              <a:rPr lang="en-US" altLang="zh-CN"/>
              <a:t> 7.89%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370205"/>
            <a:ext cx="10515600" cy="4351338"/>
          </a:xfrm>
        </p:spPr>
        <p:txBody>
          <a:bodyPr/>
          <a:p>
            <a:pPr marL="0" indent="0">
              <a:buNone/>
            </a:pPr>
            <a:r>
              <a:rPr lang="en-US" altLang="zh-CN"/>
              <a:t>3</a:t>
            </a:r>
            <a:r>
              <a:rPr lang="zh-CN" altLang="en-US"/>
              <a:t>、万科</a:t>
            </a:r>
            <a:r>
              <a:rPr lang="en-US" altLang="zh-CN"/>
              <a:t> A </a:t>
            </a:r>
            <a:r>
              <a:rPr lang="zh-CN" altLang="en-US"/>
              <a:t>公布</a:t>
            </a:r>
            <a:r>
              <a:rPr lang="en-US" altLang="zh-CN"/>
              <a:t> 2025 </a:t>
            </a:r>
            <a:r>
              <a:rPr lang="zh-CN" altLang="en-US"/>
              <a:t>年三季报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2025 </a:t>
            </a:r>
            <a:r>
              <a:rPr lang="zh-CN" altLang="en-US"/>
              <a:t>年前三季度，公司实现营业收入</a:t>
            </a:r>
            <a:r>
              <a:rPr lang="en-US" altLang="zh-CN"/>
              <a:t> 1613.88 </a:t>
            </a:r>
            <a:r>
              <a:rPr lang="zh-CN" altLang="en-US"/>
              <a:t>亿元，同比下降</a:t>
            </a:r>
            <a:r>
              <a:rPr lang="en-US" altLang="zh-CN"/>
              <a:t> 26.61%</a:t>
            </a:r>
            <a:r>
              <a:rPr lang="zh-CN" altLang="en-US"/>
              <a:t>，实现归属上市公司股东净利润亏损</a:t>
            </a:r>
            <a:r>
              <a:rPr lang="en-US" altLang="zh-CN"/>
              <a:t> 280.16 </a:t>
            </a:r>
            <a:r>
              <a:rPr lang="zh-CN" altLang="en-US"/>
              <a:t>亿元，同比下降</a:t>
            </a:r>
            <a:r>
              <a:rPr lang="en-US" altLang="zh-CN"/>
              <a:t> 56.14%</a:t>
            </a:r>
            <a:r>
              <a:rPr lang="zh-CN" altLang="en-US"/>
              <a:t>。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1-9 </a:t>
            </a:r>
            <a:r>
              <a:rPr lang="zh-CN" altLang="en-US"/>
              <a:t>月，公司累计营业收入为</a:t>
            </a:r>
            <a:r>
              <a:rPr lang="en-US" altLang="zh-CN"/>
              <a:t> 1,613.9 </a:t>
            </a:r>
            <a:r>
              <a:rPr lang="zh-CN" altLang="en-US"/>
              <a:t>亿元；归属于上市公司股东的净亏损</a:t>
            </a:r>
            <a:r>
              <a:rPr lang="en-US" altLang="zh-CN"/>
              <a:t>280.2 </a:t>
            </a:r>
            <a:r>
              <a:rPr lang="zh-CN" altLang="en-US"/>
              <a:t>亿元。</a:t>
            </a:r>
            <a:r>
              <a:rPr lang="en-US" altLang="zh-CN"/>
              <a:t> </a:t>
            </a:r>
            <a:r>
              <a:rPr lang="zh-CN" altLang="en-US"/>
              <a:t>其中，房地产开发业务结算面积为</a:t>
            </a:r>
            <a:r>
              <a:rPr lang="en-US" altLang="zh-CN"/>
              <a:t> 833.3 </a:t>
            </a:r>
            <a:r>
              <a:rPr lang="zh-CN" altLang="en-US"/>
              <a:t>万平方米，贡献营业收入</a:t>
            </a:r>
            <a:r>
              <a:rPr lang="en-US" altLang="zh-CN"/>
              <a:t>1,142.5 </a:t>
            </a:r>
            <a:r>
              <a:rPr lang="zh-CN" altLang="en-US"/>
              <a:t>亿元。</a:t>
            </a:r>
            <a:r>
              <a:rPr lang="en-US" altLang="zh-CN"/>
              <a:t> 1-9 </a:t>
            </a:r>
            <a:r>
              <a:rPr lang="zh-CN" altLang="en-US"/>
              <a:t>月，公司整体的税前毛利率为</a:t>
            </a:r>
            <a:r>
              <a:rPr lang="en-US" altLang="zh-CN"/>
              <a:t> 9.6%</a:t>
            </a:r>
            <a:r>
              <a:rPr lang="zh-CN" altLang="en-US"/>
              <a:t>，扣除税金及附加后的毛利率为</a:t>
            </a:r>
            <a:r>
              <a:rPr lang="en-US" altLang="zh-CN"/>
              <a:t> 5.3%</a:t>
            </a:r>
            <a:r>
              <a:rPr lang="zh-CN" altLang="en-US"/>
              <a:t>。其中，</a:t>
            </a:r>
            <a:r>
              <a:rPr lang="en-US" altLang="zh-CN"/>
              <a:t> </a:t>
            </a:r>
            <a:r>
              <a:rPr lang="zh-CN" altLang="en-US"/>
              <a:t>房地产开发业务的税前毛利率为</a:t>
            </a:r>
            <a:r>
              <a:rPr lang="en-US" altLang="zh-CN"/>
              <a:t> 7.8%</a:t>
            </a:r>
            <a:r>
              <a:rPr lang="zh-CN" altLang="en-US"/>
              <a:t>，税后毛利率为</a:t>
            </a:r>
            <a:r>
              <a:rPr lang="en-US" altLang="zh-CN"/>
              <a:t> 2.0%</a:t>
            </a:r>
            <a:r>
              <a:rPr lang="zh-CN" altLang="en-US"/>
              <a:t>。截至报告期末，公司持有的货币资金为</a:t>
            </a:r>
            <a:r>
              <a:rPr lang="en-US" altLang="zh-CN"/>
              <a:t> 656.8 </a:t>
            </a:r>
            <a:r>
              <a:rPr lang="zh-CN" altLang="en-US"/>
              <a:t>亿元；有息负债合计</a:t>
            </a:r>
            <a:r>
              <a:rPr lang="en-US" altLang="zh-CN"/>
              <a:t> 3,629.3 </a:t>
            </a:r>
            <a:r>
              <a:rPr lang="zh-CN" altLang="en-US"/>
              <a:t>亿元；资产</a:t>
            </a:r>
            <a:r>
              <a:rPr lang="en-US" altLang="zh-CN"/>
              <a:t> </a:t>
            </a:r>
            <a:r>
              <a:rPr lang="zh-CN" altLang="en-US"/>
              <a:t>负债率为</a:t>
            </a:r>
            <a:r>
              <a:rPr lang="en-US" altLang="zh-CN"/>
              <a:t> 73.5%</a:t>
            </a:r>
            <a:r>
              <a:rPr lang="zh-CN" altLang="en-US"/>
              <a:t>，较上年末下降</a:t>
            </a:r>
            <a:r>
              <a:rPr lang="en-US" altLang="zh-CN"/>
              <a:t> 0.1 </a:t>
            </a:r>
            <a:r>
              <a:rPr lang="zh-CN" altLang="en-US"/>
              <a:t>个百分点。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8095" y="2941320"/>
            <a:ext cx="57404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1601</Words>
  <Application>WPS 演示</Application>
  <PresentationFormat>宽屏</PresentationFormat>
  <Paragraphs>30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宋体</vt:lpstr>
      <vt:lpstr>Arial Unicode MS</vt:lpstr>
      <vt:lpstr>Calibri Light</vt:lpstr>
      <vt:lpstr>Helvetica Neue</vt:lpstr>
      <vt:lpstr>汉仪书宋二KW</vt:lpstr>
      <vt:lpstr>微软雅黑</vt:lpstr>
      <vt:lpstr>汉仪旗黑</vt:lpstr>
      <vt:lpstr>Calibri</vt:lpstr>
      <vt:lpstr>WPS</vt:lpstr>
      <vt:lpstr>PowerPoint 演示文稿</vt:lpstr>
      <vt:lpstr>上周房地产行业指数表现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李华</cp:lastModifiedBy>
  <cp:revision>4</cp:revision>
  <dcterms:created xsi:type="dcterms:W3CDTF">2025-11-08T13:55:33Z</dcterms:created>
  <dcterms:modified xsi:type="dcterms:W3CDTF">2025-11-08T13:55:33Z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2052-6.11.0.8608</vt:lpwstr>
  </property>
  <property fmtid="{D5CDD505-2E9C-101B-9397-08002B2CF9AE}" pid="3" name="ICV">
    <vt:lpwstr>FD272C1AB1D13760AD480F695EFB58C6_41</vt:lpwstr>
  </property>
</Properties>
</file>